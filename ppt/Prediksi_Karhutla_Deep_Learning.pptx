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ini menjelaskan data, metode baseline, tiga arsitektur deep learning, serta evaluasi kuantitatif dan statistik. Semua angka berasal dari hasil eksperimen terakhir di folder results/.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Alur: konteks -&gt; data -&gt; metode -&gt; bukti evaluasi -&gt; implikasi.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bahwa nilai tambah bukan sekadar deteksi hotspot, tetapi kemampuan memprakirakan beberapa hari ke depan untuk peringatan dini.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Sebutkan bahwa unit analisis adalah provinsi-hari, bukan piksel grid, sehingga model bersifat tabular-temporal, bukan spasial.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Jujur sejak awal: data simulasi. Tekankan bahwa tujuan deck adalah metodologi dan evaluasi, dan pipeline siap dipakai untuk data FIRMS asli.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Perhatikan dua rezim: musim basah (hampir nol) dan musim kemarau (ratusan hotspot/hari). Ini yang membuat MAPE tidak stabil dan F1 kejadian lebih informatif.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justifikasi fitur. Tanpa lag dan KBDI, model kehilangan konteks kekeringan yang menentukan apakah hotspot akan berlanjut.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windowing: model melihat 14 hari terakhir, memprakirakan tiga horizon sekaligus. Ini membuat satu model bisa dipakai untuk H+1, H+3, H+7.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 yang sering ditanyakan penguji: mengapa tidak random split? Karena akan terjadi kebocoran temporal dan hasil terlihat terlalu bagus.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 ini menjawab pertanyaan 'apakah DL layak secara praktis?'. HistGB adalah pesaing terberat karena fiturnya sama.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Parameter dihitung dari model sebenarnya (torch), bukan perkiraan. Embedding provinsi penting karena skala hotspot antar provinsi berbeda jauh.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Rumus ditulis dengan simbol Unicode agar tetap terbaca tanpa LaTeX. Jika ditanya: σ = sigmoid, ⊙ = perkalian elemen.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Tegaskan: semua model memakai protokol identik, satu-satunya yang berubah adalah arsitektur. Ini membuat perbandingan adil.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Bacakan tiga angka: MAE 10,05; persistence 13,54; penurunan 25,8%. Selisih antar model DL kecil, sehingga perlu uji statistik.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Perhatikan bahwa R² hanya ~0,34. Ini wajar untuk hotspot harian yang sangat acak; nilai absolut kecil namun konsisten. Jelaskan bahwa R² rendah tidak berarti model tak berguna — lihat F1 dan pengurangan MAE.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Titik pada panel kanan adalah epoch terbaik yang bobotnya dipakai untuk pengujian.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kejujuran penting: prakiraan titik panas ekstrem sulit. Alternatif: model kuantil atau klasifikasi ambang untuk menangkap ekor distribusi.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Semua provinsi membaik 16–35% dibanding persistence. Jambi paling kecil karena variabilitasnya paling sulit; NTT paling besar karena sinyal musimnya tegas.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Statistik negatif berarti model di baris tersebut lebih akurat. Uji memakai koreksi Newey-West 7 lag karena galat berautokorelasi.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Atenuasi puncak adalah konsekuensi langsung dari regresi ke rata-rata bersyarat. Jika tujuan utamanya peringatan ekstrem, metrik utama sebaiknya recall kejadian.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ini yang membedakan analisis jujur dari klaim berlebihan. Sebutkan bahwa model ini adalah alat bantu, bukan pengganti patroli lapangan.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satu kalimat: model ini bukan peramal ajaib, tetapi bukti bahwa pipeline DL dapat mengungguli baseline secara terukur dan jujur.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Siapkan jawaban untuk: mengapa MAPE tidak dipakai, mengapa R² rendah, dan bagaimana jika data asli dipakai.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ANALISIS &amp; PREDIKSI KARHUTLA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Prediksi Titik Panas Karhutla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Menggunakan Deep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4128" y="3429000"/>
            <a:ext cx="182880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D1D5DB"/>
                </a:solidFill>
                <a:latin typeface="Segoe UI"/>
              </a:rPr>
              <a:t>LSTM · GRU · CNN-LSTM  vs  Persistence · Seasonal Naive · SARIMAX · HistGB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CA3AF"/>
                </a:solidFill>
                <a:latin typeface="Segoe UI"/>
              </a:rPr>
              <a:t>10 provinsi rawan · data harian 2015–2025 · prakiraan H+1, H+3, H+7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07492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519379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"/>
              </a:rPr>
              <a:t>10.02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5961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CA3AF"/>
                </a:solidFill>
                <a:latin typeface="Segoe UI"/>
              </a:rPr>
              <a:t>MAE terbaik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507492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519379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"/>
              </a:rPr>
              <a:t>−26%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5961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CA3AF"/>
                </a:solidFill>
                <a:latin typeface="Segoe UI"/>
              </a:rPr>
              <a:t>vs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507492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5193792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97316"/>
                </a:solidFill>
                <a:latin typeface="Segoe UI"/>
              </a:rPr>
              <a:t>0.77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55961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CA3AF"/>
                </a:solidFill>
                <a:latin typeface="Segoe UI"/>
              </a:rPr>
              <a:t>F1 kejadian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PETA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43560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Segoe UI"/>
              </a:rPr>
              <a:t>Latar belakang &amp; tujuan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28216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Mengapa karhutla perlu diprakirakan dan mengapa deep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350008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6829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Segoe UI"/>
              </a:rPr>
              <a:t>Data &amp; eksplorasi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660904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Skema data harian 10 provinsi, variabel, pola musiman dan pendorong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82696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30098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Segoe UI"/>
              </a:rPr>
              <a:t>Metodologi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593592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Praproses anti-leakage, baseline, LSTM/GRU/CNN-LSTM, protokol latih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15384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34256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23367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Segoe UI"/>
              </a:rPr>
              <a:t>Evaluasi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526280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MAE/RMSE/R²/F1, uji Diebold-Mariano, horizon, per provinsi, analisis galat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148072"/>
            <a:ext cx="566928" cy="566928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66944"/>
            <a:ext cx="5669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16636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827"/>
                </a:solidFill>
                <a:latin typeface="Segoe UI"/>
              </a:rPr>
              <a:t>Diskusi &amp; kesimpulan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5458968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Segoe UI"/>
              </a:rPr>
              <a:t>Implikasi operasional, keterbatasan, rekomendasi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01 · 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Karhutla: dampak besar, prakiraan masih reaktif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481328"/>
            <a:ext cx="6473952" cy="4861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11827"/>
                </a:solidFill>
                <a:latin typeface="Segoe UI"/>
              </a:rPr>
              <a:t>Kebakaran hutan dan lahan (karhutla) tahunan di Sumatra &amp; Kalimantan, diperparah El Niño dan IOD positif.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94484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94484"/>
            <a:ext cx="6473952" cy="4861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11827"/>
                </a:solidFill>
                <a:latin typeface="Segoe UI"/>
              </a:rPr>
              <a:t>Lahan gambut menyimpan bahan bakar di bawah permukaan: api sulit dipadamkan dan asap melintasi batas provinsi.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0764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07640"/>
            <a:ext cx="6473952" cy="4861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11827"/>
                </a:solidFill>
                <a:latin typeface="Segoe UI"/>
              </a:rPr>
              <a:t>Dampak: gangguan kesehatan (ISPA), penutupan sekolah &amp; bandara, kerugian ekonomi, emisi karbon besar.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2079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320796"/>
            <a:ext cx="6473952" cy="4861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11827"/>
                </a:solidFill>
                <a:latin typeface="Segoe UI"/>
              </a:rPr>
              <a:t>Deteksi satelit (hotspot VIIRS/MODIS) sudah rutin, tetapi sebagian besar sistem masih bersifat deteksi dini, bukan prakiraan.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33952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933952"/>
            <a:ext cx="6473952" cy="4861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11827"/>
                </a:solidFill>
                <a:latin typeface="Segoe UI"/>
              </a:rPr>
              <a:t>Model deret waktu klasik sulit menangkap hubungan non-linear cuaca–kekeringan–hotspot yang tertunda beberapa hari.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481328"/>
            <a:ext cx="3794760" cy="4160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1691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C2626"/>
                </a:solidFill>
                <a:latin typeface="Segoe UI"/>
              </a:rPr>
              <a:t>Pertanyaan inti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2084831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Seberapa baik model deep learning memprakirakan jumlah titik panas H+1, H+3, dan H+7 dibandingkan baseline statistik dan machine learning?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35204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C2626"/>
                </a:solidFill>
                <a:latin typeface="Segoe UI"/>
              </a:rPr>
              <a:t>Fokus 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8862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pipeline data &amp; latih yang reproducible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3 arsitektur DL + 4 baseline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evaluasi kuantitatif &amp; uji signifikansi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analisis keterbatasan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01 · TUJUAN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Tujuan &amp; ruang lingkup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508760"/>
            <a:ext cx="6382512" cy="46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11827"/>
                </a:solidFill>
                <a:latin typeface="Segoe UI"/>
              </a:rPr>
              <a:t>Membangun pipeline prakiraan jumlah titik panas harian per provinsi untuk horizon H+1, H+3, H+7.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5152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05152"/>
            <a:ext cx="6382512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11827"/>
                </a:solidFill>
                <a:latin typeface="Segoe UI"/>
              </a:rPr>
              <a:t>Membandingkan tiga arsitektur deep learning: LSTM, GRU, dan CNN-LSTM.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684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Segoe UI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466848"/>
            <a:ext cx="606247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Benchmark: persistence, seasonal naive (lag-7), SARIMAX musiman, dan HistGradientBoosting.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96184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996184"/>
            <a:ext cx="6382512" cy="46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11827"/>
                </a:solidFill>
                <a:latin typeface="Segoe UI"/>
              </a:rPr>
              <a:t>Mengevaluasi dengan MAE, RMSE, R², sMAPE, dan F1 deteksi kejadian, lalu menguji signifikansi selisih galat (Diebold-Mariano).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9257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592576"/>
            <a:ext cx="6382512" cy="46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11827"/>
                </a:solidFill>
                <a:latin typeface="Segoe UI"/>
              </a:rPr>
              <a:t>Menganalisis di mana dan kapan model gagal, serta implikasinya untuk operasional peringatan dini.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481328"/>
            <a:ext cx="388620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66420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Ruang lingkup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863840" y="2029968"/>
          <a:ext cx="35204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48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Aspek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Batasan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Wilayah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10 provinsi rawan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Periode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2015 – 2025 (harian)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jumlah titik panas/hari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Horizon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1, 3, 7 hari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Unit model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 provinsi, dilatih gabungan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Komputasi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CPU, tanpa GPU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02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Data: 40.180 baris provinsi-hari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Sepuluh provinsi prioritas, 11 tahun pengamatan harian, tujuh variabel cuaca-iklim dan satu target hotspot.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28800"/>
          <a:ext cx="8138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691640"/>
                <a:gridCol w="42062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Variabel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Satuan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Peran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hotspot_count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titik/hari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TARGET yang diprakirakan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rainfall_mm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mm/hari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penekan penyalaan &amp; pemadam alami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temp_c / rh_pct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°C / 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pengeringan bahan bakar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wind_ms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m/s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penyebaran api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kbdi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indeks 0–203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kekeringan kumulatif (Keetch-Byram)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oni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°C anomali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El Niño / La Niña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iod_dmi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°C anomali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Dipole Mode Samudra Hindia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052560" y="1828800"/>
            <a:ext cx="2514600" cy="288036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1956816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2400E"/>
                </a:solidFill>
                <a:latin typeface="Segoe UI"/>
              </a:rPr>
              <a:t>Sifat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2267712"/>
            <a:ext cx="2130552" cy="2377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Dataset ini SIMULASI fisik-meteorologis (seed 42), bukan observasi. Rantai kausal: ENSO/IOD → hujan → suhu &amp; RH → KBDI → hotspot (NegBin, AR(1), efek gambut). Struktur kolom identik dengan agregasi NASA FIRMS, sehingga data asli dapat menggantikan CSV ini tanpa mengubah kode.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32120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374151"/>
                </a:solidFill>
                <a:latin typeface="Segoe UI"/>
              </a:rPr>
              <a:t>Kalibrasi simulasi: ±60% hari tanpa hotspot · puncak musim Agustus–Oktober · lonjakan pada tahun El Niño (2015, 2023) · total 2015 dan 2023 tertinggi.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02 · EKSPLORASI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Pola waktu: musiman kuat, lonjakan episodik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pic>
        <p:nvPicPr>
          <p:cNvPr id="7" name="Picture 6" descr="fig01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31" y="1417320"/>
            <a:ext cx="10554176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13892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5138928"/>
            <a:ext cx="10314432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Segoe UI"/>
              </a:rPr>
              <a:t>Puncak historis pada 2015 (El Niño kuat); 2015 dan 2023 jauh di atas tahun normal.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7547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475478"/>
            <a:ext cx="10314432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Segoe UI"/>
              </a:rPr>
              <a:t>Hotspot hampir nol pada Januari–April; naik tajam Juli dan memuncak September.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1202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812028"/>
            <a:ext cx="10314432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Segoe UI"/>
              </a:rPr>
              <a:t>Pemisahan train (2015–2021), validasi (2022), uji (2023–2025) dilakukan kronologis.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02 · EKSPLORASI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Kekeringan kumulatif lebih menentukan daripada hujan harian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pic>
        <p:nvPicPr>
          <p:cNvPr id="7" name="Picture 6" descr="fig03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120640" cy="43749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160020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8" y="1600200"/>
            <a:ext cx="546811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Hotspot berkorelasi paling kuat dengan rata-rata 7 hari dan nilai lag-1 → memori kebakaran gambut.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63064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2163064"/>
            <a:ext cx="546811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KBDI (kekeringan kumulatif) lebih informatif (r≈0.26) daripada hujan hari itu (r≈−0.10).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72592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8" y="2725928"/>
            <a:ext cx="546811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ONI dan IOD keduanya positif terhadap hotspot: El Niño dan IOD+ sama-sama menekan hujan.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288792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288792"/>
            <a:ext cx="546811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Suhu dan RH hampir simetris — keduanya proksi pengeringan bahan bakar.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85165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851656"/>
            <a:ext cx="546811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Implikasi desain fitur: sertakan lag, rolling mean, dan KBDI, bukan hanya cuaca hari ini.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03 · METODOLOGI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Pipeline: dari data mentah ke prakiraan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901952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0512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Data harian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Segoe UI"/>
              </a:rPr>
              <a:t>10 provinsi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0299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B7280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0088" y="1691640"/>
            <a:ext cx="1901952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1810512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Rekayasa fitur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7C3AED"/>
                </a:solidFill>
                <a:latin typeface="Segoe UI"/>
              </a:rPr>
              <a:t>lag &amp; KBDI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8616" y="20299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B7280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1691640"/>
            <a:ext cx="1901952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4" y="1810512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Windowing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14 hari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20299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B728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7224" y="1691640"/>
            <a:ext cx="1901952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810512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Model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DC2626"/>
                </a:solidFill>
                <a:latin typeface="Segoe UI"/>
              </a:rPr>
              <a:t>DL /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2029968"/>
            <a:ext cx="320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6B7280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65792" y="1691640"/>
            <a:ext cx="1901952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810512"/>
            <a:ext cx="16824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59669"/>
                </a:solidFill>
                <a:latin typeface="Segoe UI"/>
              </a:rPr>
              <a:t>Evaluasi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59669"/>
                </a:solidFill>
                <a:latin typeface="Segoe UI"/>
              </a:rPr>
              <a:t>metrik &amp; uji DM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3017520"/>
          <a:ext cx="1083564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91540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Tahap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Detail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Rekayasa fitur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21 fitur: lag hotspot (1,2,3,7,14), rolling mean/max, hujan (hari ini, lag, akumulasi 7 hari), KBDI &amp; turunannya, suhu, RH, angin, ONI, IOD, sinus-kosinus hari ke-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Windowing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Jendela 14 hari terakhir → target 3 nilai (H+1, H+3, H+7) dalam satu model multi-output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log(1 + hotspot) lalu distandardisasi per provinsi (statistik train saja)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Pencegahan bocor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Split kronologis + jeda 7 hari antar fold; scaler hanya di-fit pada train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Pelatihan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Loss Huber (SmoothL1, β=0.5), AdamW, early stopping pada MAE validasi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03 · METODOLOGI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Disiplin evaluasi: kronologis, bukan acak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0607040" cy="50292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48840"/>
            <a:ext cx="7424927" cy="5029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9424"/>
            <a:ext cx="7150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Train 2015–2021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2148840"/>
            <a:ext cx="1166774" cy="5029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2249424"/>
            <a:ext cx="89245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Val 2022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4662" y="2148840"/>
            <a:ext cx="2015337" cy="5029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1822" y="2249424"/>
            <a:ext cx="174101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Uji 2023–2025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889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10.960 observasi uji · 2.920 observasi validasi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291840"/>
            <a:ext cx="519379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Tidak ada pengacakan: data masa depan tidak boleh muncul saat pelatihan.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54704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854704"/>
            <a:ext cx="519379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Jeda 7 hari di setiap batas fold mencegah target H+7 ikut masuk ke fold sebelumnya.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1756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417568"/>
            <a:ext cx="519379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Standardisasi fitur &amp; target memakai rata-rata/simpangan baku train per provinsi.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80432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80432"/>
            <a:ext cx="519379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Ketidakseimbangan ekstrem ditangani dengan transformasi log(1+y) dan loss Huber.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4329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543296"/>
            <a:ext cx="5193792" cy="4358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Metrik terutama dilaporkan pada skala asli (titik panas), bukan skala ternormalisasi.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3246120"/>
            <a:ext cx="4709160" cy="26060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42900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11827"/>
                </a:solidFill>
                <a:latin typeface="Segoe UI"/>
              </a:rPr>
              <a:t>Mengapa bukan MAPE saja?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794760"/>
            <a:ext cx="4251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Sekitar 60% hari bernilai nol. MAPE meledak ketika penyebut nol, sehingga laporan memakai MAE &amp; RMSE (skala asli), sMAPE yang stabil, R² untuk daya jelas, dan F1 untuk kemampuan mendeteksi hari berisiko (≥10 titik).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03 ·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Empat baseline sebagai pembanding yang adil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8356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880360"/>
                <a:gridCol w="3017520"/>
                <a:gridCol w="260604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Ide dasar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Kekuatan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Kelemahan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ŷ(t+h) = y(t)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sulit dikalahkan saat kondisi stabil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buta terhadap perubahan cuaca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Seasonal Naive (lag-7)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ŷ(t+h) = y(t+h−7)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menangkap siklus mingguan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gagal saat rezim berubah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SARIMAX (1,0,1)(1,0,0)₇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ARIMA musiman + exog KBDI, hujan, ONI, IOD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interpretable, uji statistik mapan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linear, asumsi residual normal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HistGradientBoosting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pohon boosting pada fitur hari t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menangkap interaksi non-linear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satu langkah, tidak memodelkan urutan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13892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138928"/>
            <a:ext cx="104973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827"/>
                </a:solidFill>
                <a:latin typeface="Segoe UI"/>
              </a:rPr>
              <a:t>Baseline dilatih/dievaluasi pada fold yang sama persis dengan model deep learning.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169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441696"/>
            <a:ext cx="104973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827"/>
                </a:solidFill>
                <a:latin typeface="Segoe UI"/>
              </a:rPr>
              <a:t>SARIMAX difit per provinsi (10 model); HistGB pada data gabungan + one-hot provinsi.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44464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744464"/>
            <a:ext cx="104973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827"/>
                </a:solidFill>
                <a:latin typeface="Segoe UI"/>
              </a:rPr>
              <a:t>Model deep learning harus mengalahkan baseline ini, bukan hanya mengalahkan nol.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03 ·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Tiga arsitektur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107899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977639"/>
                <a:gridCol w="1463040"/>
                <a:gridCol w="384048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Struktur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Alasan dipilih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LSTM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2 lapis, 64 unit, dropout 0.2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60.499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pembanding standar untuk dependensi jangka panjang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GRU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2 lapis, 64 unit, dropout 0.2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46.611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lebih ringan; cocok untuk data harian pendek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CNN-LSTM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Conv1D 32 filter (k=3) ×2 → maxpool → LSTM 64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35.187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  <a:latin typeface="Segoe UI"/>
                        </a:rPr>
                        <a:t>konvolusi menangkap pola lokal 3 hari sebelum LSTM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5262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827"/>
                </a:solidFill>
                <a:latin typeface="Segoe UI"/>
              </a:rPr>
              <a:t>Semua model memakai input yang sama dan kepala keluaran identik: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846320"/>
            <a:ext cx="10405872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Segoe UI"/>
              </a:rPr>
              <a:t>Input: tensor 14 × 21 (14 hari × 21 fitur).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8287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5182870"/>
            <a:ext cx="10405872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Segoe UI"/>
              </a:rPr>
              <a:t>Embedding provinsi (dimensi 8) digabung ke keadaan tersembunyi terakhir → memberi konteks wilayah.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19419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5519419"/>
            <a:ext cx="10405872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Segoe UI"/>
              </a:rPr>
              <a:t>Kepala keluaran: Linear(72→64) → ReLU → Dropout → Linear(64→3) untuk H+1, H+3, H+7.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03 ·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Persamaan inti: gerbang LSTM &amp; GRU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563EB"/>
                </a:solidFill>
                <a:latin typeface="Segoe UI"/>
              </a:rPr>
              <a:t>LSTM — empat gerbang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fₜ = σ(W_f·[hₜ₋₁, xₜ] + b_f)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iₜ = σ(W_i·[hₜ₋₁, xₜ] + b_i)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oₜ = σ(W_o·[hₜ₋₁, xₜ] + b_o)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C̃ₜ = tanh(W_C·[hₜ₋₁, xₜ] + b_C)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Cₜ = fₜ ⊙ Cₜ₋₁ + iₜ ⊙ C̃ₜ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hₜ = oₜ ⊙ tanh(Cₜ)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720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Gerbang lupa (f) mempertahankan memori kekeringan berhari-hari; gerbang input (i) menyerap sinyal cuaca baru.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554480"/>
            <a:ext cx="5394960" cy="402336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C2626"/>
                </a:solidFill>
                <a:latin typeface="Segoe UI"/>
              </a:rPr>
              <a:t>GRU — dua gerbang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4884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zₜ = σ(W_z·[hₜ₋₁, xₜ])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rₜ = σ(W_r·[hₜ₋₁, xₜ])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h̃ₜ = tanh(W·[rₜ ⊙ hₜ₋₁, xₜ])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11827"/>
                </a:solidFill>
                <a:latin typeface="Consolas"/>
              </a:rPr>
              <a:t>hₜ = (1 − zₜ) ⊙ hₜ₋₁ + zₜ ⊙ h̃ₜ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88620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GRU menggabungkan memori dan kandidat pada satu vektor keadaan: ≈23% lebih sedikit parameter, latihan lebih cepat, dan pada data harian sering menyamai atau mengungguli LSTM.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σ = sigmoid · ⊙ = perkalian elemen per elemen · [hₜ₋₁, xₜ] = konkatenasi keadaan sebelumnya dan input hari ini.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03 ·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CNN-LSTM &amp; protokol pelatihan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508760"/>
            <a:ext cx="5330952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Segoe UI"/>
              </a:rPr>
              <a:t>Conv1D dengan 32 filter (kernel 3) dua lapis: mendeteksi motif lokal harian seperti 'tiga hari tanpa hujan diikuti suhu naik'.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486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054860"/>
            <a:ext cx="5330952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Segoe UI"/>
              </a:rPr>
              <a:t>MaxPooling memendekkan deret 14 → 7 langkah, mengurangi beban komputasi LSTM.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096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00960"/>
            <a:ext cx="5330952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11827"/>
                </a:solidFill>
                <a:latin typeface="Segoe UI"/>
              </a:rPr>
              <a:t>LSTM satu lapis menyusun motif tersebut menjadi dinamika musim; kepala keluaran sama dengan model lain.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0" y="1508760"/>
          <a:ext cx="55321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80360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Hyperparameter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Nilai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Panjang jendela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14 hari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Unit tersembunyi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64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Dropout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Batch size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256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Optimizer / LR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AdamW / 2e-03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Loss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Huber (SmoothL1, β=0.5)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Early stopping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patience 8 pada MAE validasi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Maksimum epoch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60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Hardware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CPU (tanpa GPU)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374151"/>
                </a:solidFill>
                <a:latin typeface="Segoe UI"/>
              </a:rPr>
              <a:t>Epoch terbaik — LSTM 13, GRU 12, CNN-LSTM 8. Bobot terbaik dipulihkan sebelum pengujian.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04 ·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Hasil: GRU paling akurat, DL unggul atas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64008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09344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59669"/>
                </a:solidFill>
                <a:latin typeface="Segoe UI"/>
              </a:rPr>
              <a:t>10.02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2140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MAE GRU (H+1)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9572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374151"/>
                </a:solidFill>
                <a:latin typeface="Segoe UI"/>
              </a:rPr>
              <a:t>titik panas/hari/provinsi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64008" cy="12344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609344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6B7280"/>
                </a:solidFill>
                <a:latin typeface="Segoe UI"/>
              </a:rPr>
              <a:t>13.54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12140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MAE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2395728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374151"/>
                </a:solidFill>
                <a:latin typeface="Segoe UI"/>
              </a:rPr>
              <a:t>baseline terkuat setelah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463040"/>
            <a:ext cx="35204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463040"/>
            <a:ext cx="64008" cy="1234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6" y="1609344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97316"/>
                </a:solidFill>
                <a:latin typeface="Segoe UI"/>
              </a:rPr>
              <a:t>26%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12140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penurunan galat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39572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374151"/>
                </a:solidFill>
                <a:latin typeface="Segoe UI"/>
              </a:rPr>
              <a:t>GRU vs persistence (MAE)</a:t>
            </a:r>
          </a:p>
        </p:txBody>
      </p:sp>
      <p:pic>
        <p:nvPicPr>
          <p:cNvPr id="22" name="Picture 21" descr="fig06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657" y="2880360"/>
            <a:ext cx="9263644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04 ·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Tabel metrik lengkap, horizon H+1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65276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051560"/>
                <a:gridCol w="1051560"/>
                <a:gridCol w="960120"/>
                <a:gridCol w="1234440"/>
                <a:gridCol w="1371600"/>
                <a:gridCol w="109728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MAE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RMSE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R²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sMAPE (%)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F1 kejadian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Presisi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11827"/>
                          </a:solidFill>
                          <a:latin typeface="Segoe UI"/>
                        </a:rPr>
                        <a:t>GRU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827"/>
                          </a:solidFill>
                          <a:latin typeface="Segoe UI"/>
                        </a:rPr>
                        <a:t>10.02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827"/>
                          </a:solidFill>
                          <a:latin typeface="Segoe UI"/>
                        </a:rPr>
                        <a:t>42.1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827"/>
                          </a:solidFill>
                          <a:latin typeface="Segoe UI"/>
                        </a:rPr>
                        <a:t>0.339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827"/>
                          </a:solidFill>
                          <a:latin typeface="Segoe UI"/>
                        </a:rPr>
                        <a:t>154.7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827"/>
                          </a:solidFill>
                          <a:latin typeface="Segoe UI"/>
                        </a:rPr>
                        <a:t>0.77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827"/>
                          </a:solidFill>
                          <a:latin typeface="Segoe UI"/>
                        </a:rPr>
                        <a:t>0.81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827"/>
                          </a:solidFill>
                          <a:latin typeface="Segoe UI"/>
                        </a:rPr>
                        <a:t>0.74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HistGB (tabular)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10.13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43.0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0.311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151.0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0.76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0.82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0.72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SARIMAX(1,0,1)(1,0,0,7)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10.14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43.7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0.290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148.3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0.80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LSTM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10.47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41.3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0.364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155.0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0.78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0.77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0.79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CNN-LSTM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10.54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41.9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0.345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149.8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0.81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13.54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53.9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-0.080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142.2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0.71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0.71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0.71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Seasonal Naive (lag-7)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14.52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55.6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-0.151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144.8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0.68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0.68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827"/>
                          </a:solidFill>
                          <a:latin typeface="Segoe UI"/>
                        </a:rPr>
                        <a:t>0.68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02920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029200"/>
            <a:ext cx="1058875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GRU terbaik pada MAE (10.02); F1 tertinggi CNN-LSTM (0.78); RMSE terendah LSTM (41.3).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3628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336286"/>
            <a:ext cx="1058875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Semua model DL mengalahkan persistence &amp; seasonal naive (MAE turun 22–26%).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43372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643372"/>
            <a:ext cx="1058875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HistGB dan SARIMAX hanya terpaut 0.11 MAE dari GRU → perlu uji signifikansi.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04 ·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Perilaku pelatihan: konvergen cepat, overfit terkendali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pic>
        <p:nvPicPr>
          <p:cNvPr id="7" name="Picture 6" descr="fig04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674" y="1463040"/>
            <a:ext cx="10406171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07492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5074920"/>
            <a:ext cx="104973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827"/>
                </a:solidFill>
                <a:latin typeface="Segoe UI"/>
              </a:rPr>
              <a:t>Ketiga model konvergen dalam &lt;10 epoch; early stopping aktif pada epoch 21–21.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0308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403088"/>
            <a:ext cx="104973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827"/>
                </a:solidFill>
                <a:latin typeface="Segoe UI"/>
              </a:rPr>
              <a:t>Selisih loss latih dan MAE validasi kecil → dropout dan Huber loss cukup menahan overfit.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3125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731256"/>
            <a:ext cx="104973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827"/>
                </a:solidFill>
                <a:latin typeface="Segoe UI"/>
              </a:rPr>
              <a:t>MAE validasi bergerak naik-turun karena 2022 adalah tahun normal dengan sedikit kejadian ekstrem, sehingga sinyal yang dipelajari lebih halus.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04 ·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Prakiraan vs aktual: tren tertangkap, puncak harian belum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pic>
        <p:nvPicPr>
          <p:cNvPr id="7" name="Picture 6" descr="fig05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68" y="1417320"/>
            <a:ext cx="9918382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02920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5029200"/>
            <a:ext cx="104973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827"/>
                </a:solidFill>
                <a:latin typeface="Segoe UI"/>
              </a:rPr>
              <a:t>Model mengikuti amplop musiman dan perubahan rezim, termasuk penurunan awal November.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5736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357368"/>
            <a:ext cx="104973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827"/>
                </a:solidFill>
                <a:latin typeface="Segoe UI"/>
              </a:rPr>
              <a:t>Puncak ekstrem harian (500–1.200 titik) diprakirakan jauh lebih rendah: loss Huber bersifat konservatif terhadap outlier.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8553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685536"/>
            <a:ext cx="104973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827"/>
                </a:solidFill>
                <a:latin typeface="Segoe UI"/>
              </a:rPr>
              <a:t>Konsekuensi operasional: model baik untuk tingkat risiko harian, tetapi belum memadai sebagai peringatan lonjakan ekstrem satu hari.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04 ·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Akurasi bertahan hingga H+7, perbaikan merata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pic>
        <p:nvPicPr>
          <p:cNvPr id="7" name="Picture 6" descr="fig07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577840" cy="2743937"/>
          </a:xfrm>
          <a:prstGeom prst="rect">
            <a:avLst/>
          </a:prstGeom>
        </p:spPr>
      </p:pic>
      <p:pic>
        <p:nvPicPr>
          <p:cNvPr id="8" name="Picture 7" descr="fig09_provi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5486400" cy="270285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34440" y="4370832"/>
          <a:ext cx="61264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097280"/>
                <a:gridCol w="1097280"/>
                <a:gridCol w="1097280"/>
                <a:gridCol w="105156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MAE H+1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MAE H+3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MAE H+7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Kenaikan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GRU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10.02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10.22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10.39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+4%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CNN-LSTM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10.54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10.44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10.59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+0%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LSTM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10.47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10.47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10.94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+4%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13.54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13.75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14.52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+7%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138160" y="4370832"/>
            <a:ext cx="3566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Kenaikan MAE hampir datar karena hotspot sangat persisten pada musim kemarau: begitu rezim kering terbentuk, jumlah titik panas bertahan beberapa hari.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Perbaikan terbesar di Nusa Tenggara Timur (35%) karena sinyal musimnya paling tegas; terkecil di Jambi (15%) karena variabilitasnya paling sulit diprakirakan.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04 ·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Uji Diebold-Mariano: apakah selisihnya nyata?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72768"/>
          <a:ext cx="10104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1508760"/>
                <a:gridCol w="1234440"/>
                <a:gridCol w="214884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Pembanding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Statistik DM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p-value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Kesimpulan</a:t>
                      </a:r>
                    </a:p>
                  </a:txBody>
                  <a:tcPr marL="73152" marR="54864" marT="18288" marB="18288" anchor="ctr">
                    <a:solidFill>
                      <a:srgbClr val="11182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Seasonal Naive (lag-7)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0.57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0.5656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tidak signifikan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SARIMAX(1,0,1)(1,0,0,7)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-4.65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0.0000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signifikan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HistGB (tabular)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-4.80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0.0000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signifikan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LSTM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-4.91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0.0000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signifikan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GRU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-4.98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0.0000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signifikan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CNN-LSTM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Persistence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-4.83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0.0000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signifikan</a:t>
                      </a:r>
                    </a:p>
                  </a:txBody>
                  <a:tcPr marL="73152" marR="54864" marT="18288" marB="18288" anchor="ctr"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LSTM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HistGB (tabular)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-2.72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0.0066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signifikan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GRU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HistGB (tabular)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-2.71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0.0067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11827"/>
                          </a:solidFill>
                          <a:latin typeface="Segoe UI"/>
                        </a:rPr>
                        <a:t>signifikan</a:t>
                      </a:r>
                    </a:p>
                  </a:txBody>
                  <a:tcPr marL="73152" marR="54864" marT="18288" marB="18288" anchor="ctr">
                    <a:solidFill>
                      <a:srgbClr val="FEF3C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CNN-LSTM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HistGB (tabular)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-1.71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0.0882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11827"/>
                          </a:solidFill>
                          <a:latin typeface="Segoe UI"/>
                        </a:rPr>
                        <a:t>tidak signifikan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28032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828032"/>
            <a:ext cx="1058875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Semua model mengalahkan persistence secara sangat signifikan (p &lt; 0,001).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241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122418"/>
            <a:ext cx="1058875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GRU (p = 0,0067) dan LSTM (p = 0,0066) mengalahkan HistGB: DL memberi nilai tambah nyata.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16804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416804"/>
            <a:ext cx="1058875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CNN-LSTM tidak berbeda signifikan dari HistGB (p = 0,0882) → keunggulannya belum terbukti.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1189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5711189"/>
            <a:ext cx="1058875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Selisih MAE 0,1–0,4 titik panas terlalu kecil untuk diklaim tanpa uji.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04 ·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Analisis galat: model cenderung meremehkan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pic>
        <p:nvPicPr>
          <p:cNvPr id="7" name="Picture 6" descr="fig08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224" y="1417320"/>
            <a:ext cx="913507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89204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892040"/>
            <a:ext cx="1049731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Sebaran mengikuti garis ideal pada nilai rendah, tetapi mendatar pada nilai tinggi → atenuasi puncak.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1182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211826"/>
            <a:ext cx="1049731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Bias rata−rata −4.36 titik panas: prakiraan lebih rendah daripada aktual, terutama saat kejadian besar.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31612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5531612"/>
            <a:ext cx="1049731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Galat ekor kanan besar dan asimetris — tipikal distribusi hotspot yang heavy-tailed.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5139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5851398"/>
            <a:ext cx="10497312" cy="192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11827"/>
                </a:solidFill>
                <a:latin typeface="Segoe UI"/>
              </a:rPr>
              <a:t>Perbaikan yang disarankan: loss kuantil, pembobotan sampel kejadian ekstrem, atau model dua tahap (klasifikasi ambang lalu regresi).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05 · DISKUSI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Diskusi: manfaat, keterbatasan, dan risiko pemakaian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59669"/>
                </a:solidFill>
                <a:latin typeface="Segoe UI"/>
              </a:rPr>
              <a:t>Yang sudah terbukti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3063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Pipeline reproducible dari data mentah sampai PPT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DL mengalahkan semua baseline (p &lt; 0,001)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GRU signifikan di atas HistGB (p = 0,003)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Akurasi stabil sampai H+7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Perbaikan merata di 10 provinsi (16–35%)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481328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45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C2626"/>
                </a:solidFill>
                <a:latin typeface="Segoe UI"/>
              </a:rPr>
              <a:t>Keterbatasan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30632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Data simulasi, belum observasi FIRMS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Tanpa komponen spasial (grid/piksel)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Faktor manusia (pembukaan lahan) tidak dimodelkan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Horizon pendek; tidak ada ketidakpastian prakiraan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Satu titik model per provinsi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Bukan pengganti patroli lapangan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481328"/>
            <a:ext cx="3520440" cy="27432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498848"/>
            <a:ext cx="10780776" cy="7498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81728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74151"/>
                </a:solidFill>
                <a:latin typeface="Segoe UI"/>
              </a:rPr>
              <a:t>Takeaway: deep learning layak dipakai sebagai alat bantu peringatan dini, tetapi wajib disertai ketidakpastian, validasi lapangan, dan evaluasi ulang berkala — bukan pengganti patroli atau keputusan operasional.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645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Segoe UI"/>
              </a:rPr>
              <a:t>Risiko &amp; tata kelola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011680"/>
            <a:ext cx="3108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Jangan pakai satu angka prakiraan sebagai dasar tunggal keputusan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Sertakan interval ketidakpastian sebelum dipakai operasional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Validasi ulang tiap tahun (rezim iklim berubah)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Dokumentasikan batas wilayah &amp; satuan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• Pantau pergeseran data (drift) setelah model dipakai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97316"/>
                </a:solidFill>
                <a:latin typeface="Segoe UI"/>
              </a:rPr>
              <a:t>05 ·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11827"/>
                </a:solidFill>
                <a:latin typeface="Segoe UI"/>
              </a:rPr>
              <a:t>Kesimpulan &amp; langkah berikutnya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27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Segoe U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276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Segoe UI"/>
              </a:rPr>
              <a:t>Prediksi Karhutla dengan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508760"/>
            <a:ext cx="6473952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Segoe UI"/>
              </a:rPr>
              <a:t>Deep learning layak dipakai: GRU mencapai MAE 10.02 titik panas/hari, 26% lebih baik daripada persistence, dan signifikan secara statistik.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8838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088388"/>
            <a:ext cx="6473952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Segoe UI"/>
              </a:rPr>
              <a:t>Arsitektur paling sederhana (GRU) menang; kompleksitas CNN-LSTM belum terbayar pada horizon pendek.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68016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668016"/>
            <a:ext cx="6473952" cy="2263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Segoe UI"/>
              </a:rPr>
              <a:t>Akurasi stabil sampai H+7, sehingga berguna untuk peringatan dini mingguan.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2133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021330"/>
            <a:ext cx="6473952" cy="4526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Segoe UI"/>
              </a:rPr>
              <a:t>Kelemahan utama: puncak ekstrem diremehkan — perlu loss kuantil atau pendekatan dua tahap.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00958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97316"/>
                </a:solidFill>
                <a:latin typeface="Segoe U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600958"/>
            <a:ext cx="6473952" cy="6789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11827"/>
                </a:solidFill>
                <a:latin typeface="Segoe UI"/>
              </a:rPr>
              <a:t>Ganti data simulasi dengan agregasi harian hotspot VIIRS/MODIS (FIRMS) untuk validasi empiris, lalu tambahkan fitur spasial dan faktor aktivitas manusia.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508760"/>
            <a:ext cx="3749039" cy="393192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16916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97316"/>
                </a:solidFill>
                <a:latin typeface="Segoe UI"/>
              </a:rPr>
              <a:t>Cara menjalankan ulang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2057400"/>
            <a:ext cx="32918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python data/generate_karhutla_data.py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python src/train.py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python src/evaluate.py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Consolas"/>
              </a:rPr>
              <a:t>python src/make_ppt.py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324612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D1D5DB"/>
                </a:solidFill>
                <a:latin typeface="Segoe UI"/>
              </a:rPr>
              <a:t>Semua keluaran (metrik, gambar, model, deck ini) dihasilkan ulang secara deterministik dengan seed 42.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9718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1D5DB"/>
                </a:solidFill>
                <a:latin typeface="Segoe UI"/>
              </a:rPr>
              <a:t>Pertanyaan &amp; diskusi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CA3AF"/>
                </a:solidFill>
                <a:latin typeface="Segoe UI"/>
              </a:rPr>
              <a:t>Lampiran: results/metrics_h1.json · results/diebold_mariano.csv · results/figures/*.png · models/*.pt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